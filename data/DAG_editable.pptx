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  <p:sldId id="259" r:id="rId5"/>
  </p:sldIdLst>
  <p:sldSz cx="12628563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08" userDrawn="1">
          <p15:clr>
            <a:srgbClr val="A4A3A4"/>
          </p15:clr>
        </p15:guide>
        <p15:guide id="2" pos="39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800E"/>
    <a:srgbClr val="E39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89"/>
  </p:normalViewPr>
  <p:slideViewPr>
    <p:cSldViewPr snapToGrid="0" snapToObjects="1">
      <p:cViewPr>
        <p:scale>
          <a:sx n="134" d="100"/>
          <a:sy n="134" d="100"/>
        </p:scale>
        <p:origin x="112" y="-5784"/>
      </p:cViewPr>
      <p:guideLst>
        <p:guide orient="horz" pos="4608"/>
        <p:guide pos="39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9285" y="2130426"/>
            <a:ext cx="8945232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8570" y="3886200"/>
            <a:ext cx="7366662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308" y="4406901"/>
            <a:ext cx="894523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308" y="2906714"/>
            <a:ext cx="894523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6190" y="1600201"/>
            <a:ext cx="464801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599" y="1600201"/>
            <a:ext cx="464801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6190" y="1535113"/>
            <a:ext cx="46498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190" y="2174875"/>
            <a:ext cx="46498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5946" y="1535113"/>
            <a:ext cx="465166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45946" y="2174875"/>
            <a:ext cx="465166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90" y="273050"/>
            <a:ext cx="346225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14" y="273051"/>
            <a:ext cx="588309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6190" y="1435100"/>
            <a:ext cx="346225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2739" y="4800600"/>
            <a:ext cx="631428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62739" y="612775"/>
            <a:ext cx="631428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62739" y="5367338"/>
            <a:ext cx="631428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9757" y="274638"/>
            <a:ext cx="23678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6190" y="274638"/>
            <a:ext cx="692817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6190" y="274638"/>
            <a:ext cx="94714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6190" y="1600201"/>
            <a:ext cx="947142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6190" y="6356351"/>
            <a:ext cx="245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95633" y="6356351"/>
            <a:ext cx="33325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2058" y="6356351"/>
            <a:ext cx="245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9CF3BA8-A05A-ACE2-48DA-9A5CA0AF88ED}"/>
              </a:ext>
            </a:extLst>
          </p:cNvPr>
          <p:cNvSpPr/>
          <p:nvPr/>
        </p:nvSpPr>
        <p:spPr>
          <a:xfrm>
            <a:off x="3354513" y="750771"/>
            <a:ext cx="5919537" cy="8470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In bone marrow data, draw trajectory map by PAGA + DPT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kumimoji="1" lang="ko-KR" altLang="en-US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kumimoji="1" lang="en-US" altLang="ko-KR" dirty="0">
                <a:solidFill>
                  <a:schemeClr val="tx1"/>
                </a:solidFill>
                <a:sym typeface="Wingdings" pitchFamily="2" charset="2"/>
              </a:rPr>
              <a:t>Back-bone like hematopoiesis map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F724BF2-3B3A-FEF2-6B7C-EED9B29F301D}"/>
              </a:ext>
            </a:extLst>
          </p:cNvPr>
          <p:cNvCxnSpPr>
            <a:stCxn id="3" idx="2"/>
          </p:cNvCxnSpPr>
          <p:nvPr/>
        </p:nvCxnSpPr>
        <p:spPr>
          <a:xfrm flipH="1">
            <a:off x="6314281" y="1597794"/>
            <a:ext cx="1" cy="1357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267FC4D-694A-F876-FBF0-5E56233EFDE5}"/>
              </a:ext>
            </a:extLst>
          </p:cNvPr>
          <p:cNvSpPr/>
          <p:nvPr/>
        </p:nvSpPr>
        <p:spPr>
          <a:xfrm>
            <a:off x="3354513" y="2954957"/>
            <a:ext cx="5919537" cy="8470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Find terminal cluster and</a:t>
            </a:r>
            <a:r>
              <a:rPr kumimoji="1" lang="ko-KR" altLang="en-US" dirty="0">
                <a:solidFill>
                  <a:schemeClr val="tx1"/>
                </a:solidFill>
              </a:rPr>
              <a:t> </a:t>
            </a:r>
            <a:r>
              <a:rPr kumimoji="1" lang="en-US" altLang="ko-KR" dirty="0">
                <a:solidFill>
                  <a:schemeClr val="tx1"/>
                </a:solidFill>
              </a:rPr>
              <a:t>bifurcation cluster 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DEEE62E-071F-0921-CEE3-3335E9D18CF8}"/>
              </a:ext>
            </a:extLst>
          </p:cNvPr>
          <p:cNvCxnSpPr>
            <a:cxnSpLocks/>
          </p:cNvCxnSpPr>
          <p:nvPr/>
        </p:nvCxnSpPr>
        <p:spPr>
          <a:xfrm>
            <a:off x="6314281" y="3801980"/>
            <a:ext cx="0" cy="818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46CBD7F-0086-16A5-7511-981ADB659C9E}"/>
              </a:ext>
            </a:extLst>
          </p:cNvPr>
          <p:cNvSpPr/>
          <p:nvPr/>
        </p:nvSpPr>
        <p:spPr>
          <a:xfrm>
            <a:off x="3354512" y="4649003"/>
            <a:ext cx="5919537" cy="8470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Find terminal cluster and</a:t>
            </a:r>
            <a:r>
              <a:rPr kumimoji="1" lang="ko-KR" altLang="en-US" dirty="0">
                <a:solidFill>
                  <a:schemeClr val="tx1"/>
                </a:solidFill>
              </a:rPr>
              <a:t> </a:t>
            </a:r>
            <a:r>
              <a:rPr kumimoji="1" lang="en-US" altLang="ko-KR" dirty="0">
                <a:solidFill>
                  <a:schemeClr val="tx1"/>
                </a:solidFill>
              </a:rPr>
              <a:t>bifurcation cluster 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37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3641" y="18288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C3E50"/>
                </a:solidFill>
              </a:rPr>
              <a:t>BM hematopoiesis (broad-level)</a:t>
            </a:r>
          </a:p>
        </p:txBody>
      </p:sp>
      <p:sp>
        <p:nvSpPr>
          <p:cNvPr id="3" name="Oval 2"/>
          <p:cNvSpPr/>
          <p:nvPr/>
        </p:nvSpPr>
        <p:spPr>
          <a:xfrm>
            <a:off x="5857081" y="522514"/>
            <a:ext cx="914400" cy="914400"/>
          </a:xfrm>
          <a:prstGeom prst="ellipse">
            <a:avLst/>
          </a:prstGeom>
          <a:solidFill>
            <a:srgbClr val="455A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lang="en-US" altLang="ko-KR" sz="1600" b="1" dirty="0">
                <a:solidFill>
                  <a:srgbClr val="FFFFFF"/>
                </a:solidFill>
              </a:rPr>
              <a:t>HSC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5857081" y="2233748"/>
            <a:ext cx="914400" cy="914400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MPP</a:t>
            </a:r>
          </a:p>
        </p:txBody>
      </p:sp>
      <p:sp>
        <p:nvSpPr>
          <p:cNvPr id="5" name="Oval 4"/>
          <p:cNvSpPr/>
          <p:nvPr/>
        </p:nvSpPr>
        <p:spPr>
          <a:xfrm>
            <a:off x="3858519" y="4193177"/>
            <a:ext cx="914400" cy="9144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CMP</a:t>
            </a:r>
          </a:p>
        </p:txBody>
      </p:sp>
      <p:sp>
        <p:nvSpPr>
          <p:cNvPr id="6" name="Oval 5"/>
          <p:cNvSpPr/>
          <p:nvPr/>
        </p:nvSpPr>
        <p:spPr>
          <a:xfrm>
            <a:off x="9852847" y="4197524"/>
            <a:ext cx="914400" cy="914400"/>
          </a:xfrm>
          <a:prstGeom prst="ellipse">
            <a:avLst/>
          </a:prstGeom>
          <a:solidFill>
            <a:srgbClr val="AF7AC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CLP</a:t>
            </a:r>
          </a:p>
        </p:txBody>
      </p:sp>
      <p:sp>
        <p:nvSpPr>
          <p:cNvPr id="7" name="Oval 6"/>
          <p:cNvSpPr/>
          <p:nvPr/>
        </p:nvSpPr>
        <p:spPr>
          <a:xfrm>
            <a:off x="2944119" y="6152603"/>
            <a:ext cx="914400" cy="914400"/>
          </a:xfrm>
          <a:prstGeom prst="ellipse">
            <a:avLst/>
          </a:prstGeom>
          <a:solidFill>
            <a:srgbClr val="B7950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GMP</a:t>
            </a:r>
          </a:p>
        </p:txBody>
      </p:sp>
      <p:sp>
        <p:nvSpPr>
          <p:cNvPr id="8" name="Oval 7"/>
          <p:cNvSpPr/>
          <p:nvPr/>
        </p:nvSpPr>
        <p:spPr>
          <a:xfrm>
            <a:off x="644567" y="6161307"/>
            <a:ext cx="914400" cy="914400"/>
          </a:xfrm>
          <a:prstGeom prst="ellipse">
            <a:avLst/>
          </a:prstGeom>
          <a:solidFill>
            <a:srgbClr val="922B2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MEP</a:t>
            </a:r>
          </a:p>
        </p:txBody>
      </p:sp>
      <p:sp>
        <p:nvSpPr>
          <p:cNvPr id="9" name="Oval 8"/>
          <p:cNvSpPr/>
          <p:nvPr/>
        </p:nvSpPr>
        <p:spPr>
          <a:xfrm>
            <a:off x="4822994" y="6165664"/>
            <a:ext cx="914400" cy="9144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MDP</a:t>
            </a:r>
          </a:p>
        </p:txBody>
      </p:sp>
      <p:sp>
        <p:nvSpPr>
          <p:cNvPr id="10" name="Oval 9"/>
          <p:cNvSpPr/>
          <p:nvPr/>
        </p:nvSpPr>
        <p:spPr>
          <a:xfrm>
            <a:off x="6818072" y="6212461"/>
            <a:ext cx="914400" cy="914400"/>
          </a:xfrm>
          <a:prstGeom prst="ellipse">
            <a:avLst/>
          </a:prstGeom>
          <a:solidFill>
            <a:srgbClr val="F5CB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BMCP</a:t>
            </a:r>
          </a:p>
        </p:txBody>
      </p:sp>
      <p:sp>
        <p:nvSpPr>
          <p:cNvPr id="11" name="Oval 10"/>
          <p:cNvSpPr/>
          <p:nvPr/>
        </p:nvSpPr>
        <p:spPr>
          <a:xfrm>
            <a:off x="11117669" y="6216818"/>
            <a:ext cx="914400" cy="914400"/>
          </a:xfrm>
          <a:prstGeom prst="ellipse">
            <a:avLst/>
          </a:prstGeom>
          <a:solidFill>
            <a:srgbClr val="D2B4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Pro_B_cell</a:t>
            </a:r>
          </a:p>
        </p:txBody>
      </p:sp>
      <p:sp>
        <p:nvSpPr>
          <p:cNvPr id="12" name="Oval 11"/>
          <p:cNvSpPr/>
          <p:nvPr/>
        </p:nvSpPr>
        <p:spPr>
          <a:xfrm>
            <a:off x="9852847" y="6212461"/>
            <a:ext cx="914400" cy="91440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NK_cell</a:t>
            </a:r>
          </a:p>
        </p:txBody>
      </p:sp>
      <p:sp>
        <p:nvSpPr>
          <p:cNvPr id="13" name="Oval 12"/>
          <p:cNvSpPr/>
          <p:nvPr/>
        </p:nvSpPr>
        <p:spPr>
          <a:xfrm>
            <a:off x="8528207" y="6216818"/>
            <a:ext cx="914400" cy="91440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 dirty="0" err="1">
                <a:solidFill>
                  <a:srgbClr val="000000"/>
                </a:solidFill>
              </a:rPr>
              <a:t>T_cell</a:t>
            </a:r>
            <a:r>
              <a:rPr lang="ko-KR" altLang="en-US" sz="1600" b="1" dirty="0">
                <a:solidFill>
                  <a:srgbClr val="000000"/>
                </a:solidFill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</a:rPr>
              <a:t>progenitor</a:t>
            </a:r>
            <a:endParaRPr sz="1600" b="1" dirty="0">
              <a:solidFill>
                <a:srgbClr val="00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861316" y="8072850"/>
            <a:ext cx="914400" cy="91440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Neutrophil</a:t>
            </a:r>
          </a:p>
        </p:txBody>
      </p:sp>
      <p:sp>
        <p:nvSpPr>
          <p:cNvPr id="15" name="Oval 14"/>
          <p:cNvSpPr/>
          <p:nvPr/>
        </p:nvSpPr>
        <p:spPr>
          <a:xfrm>
            <a:off x="3004316" y="8081560"/>
            <a:ext cx="914400" cy="9144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Eosinophil</a:t>
            </a:r>
          </a:p>
        </p:txBody>
      </p:sp>
      <p:sp>
        <p:nvSpPr>
          <p:cNvPr id="16" name="Oval 15"/>
          <p:cNvSpPr/>
          <p:nvPr/>
        </p:nvSpPr>
        <p:spPr>
          <a:xfrm>
            <a:off x="7404104" y="8150122"/>
            <a:ext cx="914400" cy="914400"/>
          </a:xfrm>
          <a:prstGeom prst="ellipse">
            <a:avLst/>
          </a:prstGeom>
          <a:solidFill>
            <a:srgbClr val="F8C47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Basophil</a:t>
            </a:r>
          </a:p>
        </p:txBody>
      </p:sp>
      <p:sp>
        <p:nvSpPr>
          <p:cNvPr id="17" name="Oval 16"/>
          <p:cNvSpPr/>
          <p:nvPr/>
        </p:nvSpPr>
        <p:spPr>
          <a:xfrm>
            <a:off x="4098276" y="8072851"/>
            <a:ext cx="914400" cy="914400"/>
          </a:xfrm>
          <a:prstGeom prst="ellipse">
            <a:avLst/>
          </a:prstGeom>
          <a:solidFill>
            <a:srgbClr val="B9770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Monocyte</a:t>
            </a:r>
          </a:p>
        </p:txBody>
      </p:sp>
      <p:sp>
        <p:nvSpPr>
          <p:cNvPr id="18" name="Oval 17"/>
          <p:cNvSpPr/>
          <p:nvPr/>
        </p:nvSpPr>
        <p:spPr>
          <a:xfrm>
            <a:off x="6281135" y="8154476"/>
            <a:ext cx="914400" cy="914400"/>
          </a:xfrm>
          <a:prstGeom prst="ellipse">
            <a:avLst/>
          </a:prstGeom>
          <a:solidFill>
            <a:srgbClr val="EB984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Mast_cell</a:t>
            </a:r>
          </a:p>
        </p:txBody>
      </p:sp>
      <p:sp>
        <p:nvSpPr>
          <p:cNvPr id="19" name="Oval 18"/>
          <p:cNvSpPr/>
          <p:nvPr/>
        </p:nvSpPr>
        <p:spPr>
          <a:xfrm>
            <a:off x="247783" y="10084521"/>
            <a:ext cx="914400" cy="91440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Megakaryocyte</a:t>
            </a:r>
          </a:p>
        </p:txBody>
      </p:sp>
      <p:sp>
        <p:nvSpPr>
          <p:cNvPr id="20" name="Oval 19"/>
          <p:cNvSpPr/>
          <p:nvPr/>
        </p:nvSpPr>
        <p:spPr>
          <a:xfrm>
            <a:off x="1571882" y="10071452"/>
            <a:ext cx="914400" cy="914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Erythroblast</a:t>
            </a:r>
          </a:p>
        </p:txBody>
      </p:sp>
      <p:sp>
        <p:nvSpPr>
          <p:cNvPr id="21" name="Oval 20"/>
          <p:cNvSpPr/>
          <p:nvPr/>
        </p:nvSpPr>
        <p:spPr>
          <a:xfrm>
            <a:off x="5639857" y="10062749"/>
            <a:ext cx="914400" cy="914400"/>
          </a:xfrm>
          <a:prstGeom prst="ellipse">
            <a:avLst/>
          </a:prstGeom>
          <a:solidFill>
            <a:srgbClr val="239B5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CDP</a:t>
            </a:r>
          </a:p>
        </p:txBody>
      </p:sp>
      <p:sp>
        <p:nvSpPr>
          <p:cNvPr id="22" name="Oval 21"/>
          <p:cNvSpPr/>
          <p:nvPr/>
        </p:nvSpPr>
        <p:spPr>
          <a:xfrm>
            <a:off x="11150497" y="10062749"/>
            <a:ext cx="914400" cy="914400"/>
          </a:xfrm>
          <a:prstGeom prst="ellipse">
            <a:avLst/>
          </a:prstGeom>
          <a:solidFill>
            <a:srgbClr val="BB8F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Pre_B_cell</a:t>
            </a:r>
          </a:p>
        </p:txBody>
      </p:sp>
      <p:sp>
        <p:nvSpPr>
          <p:cNvPr id="23" name="Oval 22"/>
          <p:cNvSpPr/>
          <p:nvPr/>
        </p:nvSpPr>
        <p:spPr>
          <a:xfrm>
            <a:off x="3679776" y="11991707"/>
            <a:ext cx="914400" cy="914400"/>
          </a:xfrm>
          <a:prstGeom prst="ellipse">
            <a:avLst/>
          </a:prstGeom>
          <a:solidFill>
            <a:srgbClr val="7E510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Macrophage</a:t>
            </a:r>
          </a:p>
        </p:txBody>
      </p:sp>
      <p:sp>
        <p:nvSpPr>
          <p:cNvPr id="24" name="Oval 23"/>
          <p:cNvSpPr/>
          <p:nvPr/>
        </p:nvSpPr>
        <p:spPr>
          <a:xfrm>
            <a:off x="247783" y="12000411"/>
            <a:ext cx="914400" cy="914400"/>
          </a:xfrm>
          <a:prstGeom prst="ellipse">
            <a:avLst/>
          </a:prstGeom>
          <a:solidFill>
            <a:srgbClr val="76D7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Platelet</a:t>
            </a:r>
          </a:p>
        </p:txBody>
      </p:sp>
      <p:sp>
        <p:nvSpPr>
          <p:cNvPr id="25" name="Oval 24"/>
          <p:cNvSpPr/>
          <p:nvPr/>
        </p:nvSpPr>
        <p:spPr>
          <a:xfrm>
            <a:off x="1571882" y="11371430"/>
            <a:ext cx="914400" cy="9144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BFU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4989272" y="11991707"/>
            <a:ext cx="914400" cy="914400"/>
          </a:xfrm>
          <a:prstGeom prst="ellipse">
            <a:avLst/>
          </a:prstGeom>
          <a:solidFill>
            <a:srgbClr val="52BE8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DC</a:t>
            </a:r>
          </a:p>
        </p:txBody>
      </p:sp>
      <p:sp>
        <p:nvSpPr>
          <p:cNvPr id="27" name="Oval 26"/>
          <p:cNvSpPr/>
          <p:nvPr/>
        </p:nvSpPr>
        <p:spPr>
          <a:xfrm>
            <a:off x="6360872" y="11991707"/>
            <a:ext cx="914400" cy="9144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pDC</a:t>
            </a:r>
          </a:p>
        </p:txBody>
      </p:sp>
      <p:sp>
        <p:nvSpPr>
          <p:cNvPr id="28" name="Oval 27"/>
          <p:cNvSpPr/>
          <p:nvPr/>
        </p:nvSpPr>
        <p:spPr>
          <a:xfrm>
            <a:off x="11150497" y="11882836"/>
            <a:ext cx="914400" cy="914400"/>
          </a:xfrm>
          <a:prstGeom prst="ellipse">
            <a:avLst/>
          </a:prstGeom>
          <a:solidFill>
            <a:srgbClr val="7D3C9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B_cell</a:t>
            </a:r>
          </a:p>
        </p:txBody>
      </p:sp>
      <p:sp>
        <p:nvSpPr>
          <p:cNvPr id="29" name="Oval 28"/>
          <p:cNvSpPr/>
          <p:nvPr/>
        </p:nvSpPr>
        <p:spPr>
          <a:xfrm>
            <a:off x="1571882" y="13576652"/>
            <a:ext cx="914400" cy="914400"/>
          </a:xfrm>
          <a:prstGeom prst="ellipse">
            <a:avLst/>
          </a:prstGeom>
          <a:solidFill>
            <a:srgbClr val="FAD7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Erythrocyte</a:t>
            </a:r>
          </a:p>
        </p:txBody>
      </p:sp>
      <p:sp>
        <p:nvSpPr>
          <p:cNvPr id="30" name="Oval 29"/>
          <p:cNvSpPr/>
          <p:nvPr/>
        </p:nvSpPr>
        <p:spPr>
          <a:xfrm>
            <a:off x="4012225" y="13581017"/>
            <a:ext cx="914400" cy="914400"/>
          </a:xfrm>
          <a:prstGeom prst="ellipse">
            <a:avLst/>
          </a:prstGeom>
          <a:solidFill>
            <a:srgbClr val="82E0A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cDC1</a:t>
            </a:r>
          </a:p>
        </p:txBody>
      </p:sp>
      <p:sp>
        <p:nvSpPr>
          <p:cNvPr id="31" name="Oval 30"/>
          <p:cNvSpPr/>
          <p:nvPr/>
        </p:nvSpPr>
        <p:spPr>
          <a:xfrm>
            <a:off x="6097057" y="13581017"/>
            <a:ext cx="914400" cy="914400"/>
          </a:xfrm>
          <a:prstGeom prst="ellipse">
            <a:avLst/>
          </a:prstGeom>
          <a:solidFill>
            <a:srgbClr val="A9DFB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cDC2</a:t>
            </a:r>
          </a:p>
        </p:txBody>
      </p:sp>
      <p:sp>
        <p:nvSpPr>
          <p:cNvPr id="32" name="Oval 31"/>
          <p:cNvSpPr/>
          <p:nvPr/>
        </p:nvSpPr>
        <p:spPr>
          <a:xfrm>
            <a:off x="11150497" y="13432962"/>
            <a:ext cx="914400" cy="914400"/>
          </a:xfrm>
          <a:prstGeom prst="ellipse">
            <a:avLst/>
          </a:prstGeom>
          <a:solidFill>
            <a:srgbClr val="4A23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Plasma_cell</a:t>
            </a:r>
          </a:p>
        </p:txBody>
      </p:sp>
      <p:cxnSp>
        <p:nvCxnSpPr>
          <p:cNvPr id="33" name="Connector 32"/>
          <p:cNvCxnSpPr>
            <a:cxnSpLocks/>
            <a:stCxn id="3" idx="4"/>
            <a:endCxn id="4" idx="0"/>
          </p:cNvCxnSpPr>
          <p:nvPr/>
        </p:nvCxnSpPr>
        <p:spPr>
          <a:xfrm>
            <a:off x="6314281" y="1436914"/>
            <a:ext cx="0" cy="796834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  <a:stCxn id="4" idx="4"/>
            <a:endCxn id="5" idx="0"/>
          </p:cNvCxnSpPr>
          <p:nvPr/>
        </p:nvCxnSpPr>
        <p:spPr>
          <a:xfrm flipH="1">
            <a:off x="4315719" y="3148149"/>
            <a:ext cx="1998562" cy="1045029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  <a:stCxn id="4" idx="4"/>
            <a:endCxn id="6" idx="0"/>
          </p:cNvCxnSpPr>
          <p:nvPr/>
        </p:nvCxnSpPr>
        <p:spPr>
          <a:xfrm>
            <a:off x="6314281" y="3148148"/>
            <a:ext cx="3995766" cy="1049376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cxnSpLocks/>
            <a:stCxn id="5" idx="4"/>
            <a:endCxn id="7" idx="0"/>
          </p:cNvCxnSpPr>
          <p:nvPr/>
        </p:nvCxnSpPr>
        <p:spPr>
          <a:xfrm flipH="1">
            <a:off x="3401319" y="5107577"/>
            <a:ext cx="914400" cy="1045026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  <a:stCxn id="5" idx="4"/>
            <a:endCxn id="8" idx="0"/>
          </p:cNvCxnSpPr>
          <p:nvPr/>
        </p:nvCxnSpPr>
        <p:spPr>
          <a:xfrm flipH="1">
            <a:off x="1101767" y="5107577"/>
            <a:ext cx="3213952" cy="105373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  <a:stCxn id="5" idx="4"/>
            <a:endCxn id="9" idx="0"/>
          </p:cNvCxnSpPr>
          <p:nvPr/>
        </p:nvCxnSpPr>
        <p:spPr>
          <a:xfrm>
            <a:off x="4315720" y="5107578"/>
            <a:ext cx="964475" cy="1058087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  <a:stCxn id="5" idx="4"/>
            <a:endCxn id="10" idx="0"/>
          </p:cNvCxnSpPr>
          <p:nvPr/>
        </p:nvCxnSpPr>
        <p:spPr>
          <a:xfrm>
            <a:off x="4315719" y="5107577"/>
            <a:ext cx="2959553" cy="1104884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  <a:stCxn id="6" idx="4"/>
            <a:endCxn id="11" idx="0"/>
          </p:cNvCxnSpPr>
          <p:nvPr/>
        </p:nvCxnSpPr>
        <p:spPr>
          <a:xfrm>
            <a:off x="10310047" y="5111924"/>
            <a:ext cx="1264822" cy="1104894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cxnSpLocks/>
            <a:stCxn id="6" idx="4"/>
            <a:endCxn id="12" idx="0"/>
          </p:cNvCxnSpPr>
          <p:nvPr/>
        </p:nvCxnSpPr>
        <p:spPr>
          <a:xfrm>
            <a:off x="10310047" y="5111924"/>
            <a:ext cx="0" cy="1100537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cxnSpLocks/>
            <a:stCxn id="6" idx="4"/>
            <a:endCxn id="13" idx="0"/>
          </p:cNvCxnSpPr>
          <p:nvPr/>
        </p:nvCxnSpPr>
        <p:spPr>
          <a:xfrm flipH="1">
            <a:off x="8985407" y="5111924"/>
            <a:ext cx="1324640" cy="1104894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cxnSpLocks/>
            <a:stCxn id="7" idx="4"/>
            <a:endCxn id="14" idx="0"/>
          </p:cNvCxnSpPr>
          <p:nvPr/>
        </p:nvCxnSpPr>
        <p:spPr>
          <a:xfrm flipH="1">
            <a:off x="2318516" y="7067003"/>
            <a:ext cx="1082803" cy="1005847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cxnSpLocks/>
            <a:stCxn id="7" idx="4"/>
            <a:endCxn id="15" idx="0"/>
          </p:cNvCxnSpPr>
          <p:nvPr/>
        </p:nvCxnSpPr>
        <p:spPr>
          <a:xfrm>
            <a:off x="3401319" y="7067003"/>
            <a:ext cx="60197" cy="1014557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cxnSpLocks/>
            <a:stCxn id="7" idx="4"/>
            <a:endCxn id="17" idx="0"/>
          </p:cNvCxnSpPr>
          <p:nvPr/>
        </p:nvCxnSpPr>
        <p:spPr>
          <a:xfrm>
            <a:off x="3401319" y="7067003"/>
            <a:ext cx="1154157" cy="1005848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cxnSpLocks/>
            <a:stCxn id="8" idx="4"/>
            <a:endCxn id="19" idx="0"/>
          </p:cNvCxnSpPr>
          <p:nvPr/>
        </p:nvCxnSpPr>
        <p:spPr>
          <a:xfrm flipH="1">
            <a:off x="704983" y="7075707"/>
            <a:ext cx="396784" cy="3008814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cxnSpLocks/>
            <a:stCxn id="8" idx="4"/>
            <a:endCxn id="20" idx="0"/>
          </p:cNvCxnSpPr>
          <p:nvPr/>
        </p:nvCxnSpPr>
        <p:spPr>
          <a:xfrm>
            <a:off x="1101767" y="7075707"/>
            <a:ext cx="927315" cy="2995745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cxnSpLocks/>
            <a:stCxn id="9" idx="4"/>
            <a:endCxn id="21" idx="0"/>
          </p:cNvCxnSpPr>
          <p:nvPr/>
        </p:nvCxnSpPr>
        <p:spPr>
          <a:xfrm>
            <a:off x="5280195" y="7080065"/>
            <a:ext cx="816863" cy="2982685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cxnSpLocks/>
            <a:stCxn id="9" idx="4"/>
            <a:endCxn id="17" idx="0"/>
          </p:cNvCxnSpPr>
          <p:nvPr/>
        </p:nvCxnSpPr>
        <p:spPr>
          <a:xfrm flipH="1">
            <a:off x="4555476" y="7080064"/>
            <a:ext cx="724718" cy="992787"/>
          </a:xfrm>
          <a:prstGeom prst="line">
            <a:avLst/>
          </a:prstGeom>
          <a:ln w="12700">
            <a:solidFill>
              <a:srgbClr val="2C3E50"/>
            </a:solidFill>
            <a:prstDash val="dash"/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cxnSpLocks/>
            <a:stCxn id="10" idx="4"/>
            <a:endCxn id="16" idx="0"/>
          </p:cNvCxnSpPr>
          <p:nvPr/>
        </p:nvCxnSpPr>
        <p:spPr>
          <a:xfrm>
            <a:off x="7275272" y="7126861"/>
            <a:ext cx="586032" cy="1023261"/>
          </a:xfrm>
          <a:prstGeom prst="line">
            <a:avLst/>
          </a:prstGeom>
          <a:ln w="12700">
            <a:solidFill>
              <a:srgbClr val="2C3E50"/>
            </a:solidFill>
            <a:prstDash val="dash"/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cxnSpLocks/>
            <a:stCxn id="10" idx="4"/>
            <a:endCxn id="18" idx="0"/>
          </p:cNvCxnSpPr>
          <p:nvPr/>
        </p:nvCxnSpPr>
        <p:spPr>
          <a:xfrm flipH="1">
            <a:off x="6738335" y="7126861"/>
            <a:ext cx="536937" cy="1027615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cxnSpLocks/>
            <a:stCxn id="11" idx="4"/>
            <a:endCxn id="22" idx="0"/>
          </p:cNvCxnSpPr>
          <p:nvPr/>
        </p:nvCxnSpPr>
        <p:spPr>
          <a:xfrm>
            <a:off x="11574869" y="7131218"/>
            <a:ext cx="32828" cy="2931531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cxnSpLocks/>
            <a:stCxn id="17" idx="4"/>
            <a:endCxn id="23" idx="0"/>
          </p:cNvCxnSpPr>
          <p:nvPr/>
        </p:nvCxnSpPr>
        <p:spPr>
          <a:xfrm flipH="1">
            <a:off x="4136976" y="8987251"/>
            <a:ext cx="418500" cy="3004456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cxnSpLocks/>
            <a:stCxn id="19" idx="4"/>
            <a:endCxn id="24" idx="0"/>
          </p:cNvCxnSpPr>
          <p:nvPr/>
        </p:nvCxnSpPr>
        <p:spPr>
          <a:xfrm>
            <a:off x="704983" y="10998921"/>
            <a:ext cx="0" cy="100149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cxnSpLocks/>
            <a:stCxn id="20" idx="4"/>
          </p:cNvCxnSpPr>
          <p:nvPr/>
        </p:nvCxnSpPr>
        <p:spPr>
          <a:xfrm>
            <a:off x="2029082" y="10985852"/>
            <a:ext cx="0" cy="409858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cxnSpLocks/>
            <a:stCxn id="21" idx="4"/>
            <a:endCxn id="26" idx="0"/>
          </p:cNvCxnSpPr>
          <p:nvPr/>
        </p:nvCxnSpPr>
        <p:spPr>
          <a:xfrm flipH="1">
            <a:off x="5446473" y="10977149"/>
            <a:ext cx="650585" cy="1014558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cxnSpLocks/>
            <a:stCxn id="21" idx="4"/>
            <a:endCxn id="27" idx="0"/>
          </p:cNvCxnSpPr>
          <p:nvPr/>
        </p:nvCxnSpPr>
        <p:spPr>
          <a:xfrm>
            <a:off x="6097058" y="10977149"/>
            <a:ext cx="721015" cy="1014558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cxnSpLocks/>
            <a:stCxn id="22" idx="4"/>
            <a:endCxn id="28" idx="0"/>
          </p:cNvCxnSpPr>
          <p:nvPr/>
        </p:nvCxnSpPr>
        <p:spPr>
          <a:xfrm>
            <a:off x="11607697" y="10977150"/>
            <a:ext cx="0" cy="905687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cxnSpLocks/>
            <a:stCxn id="265" idx="4"/>
            <a:endCxn id="29" idx="0"/>
          </p:cNvCxnSpPr>
          <p:nvPr/>
        </p:nvCxnSpPr>
        <p:spPr>
          <a:xfrm>
            <a:off x="2029082" y="13372011"/>
            <a:ext cx="0" cy="204641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cxnSpLocks/>
            <a:stCxn id="26" idx="4"/>
            <a:endCxn id="30" idx="0"/>
          </p:cNvCxnSpPr>
          <p:nvPr/>
        </p:nvCxnSpPr>
        <p:spPr>
          <a:xfrm flipH="1">
            <a:off x="4469426" y="12906107"/>
            <a:ext cx="977047" cy="67491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cxnSpLocks/>
            <a:stCxn id="26" idx="4"/>
            <a:endCxn id="31" idx="0"/>
          </p:cNvCxnSpPr>
          <p:nvPr/>
        </p:nvCxnSpPr>
        <p:spPr>
          <a:xfrm>
            <a:off x="5446473" y="12906107"/>
            <a:ext cx="1107785" cy="67491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cxnSpLocks/>
            <a:stCxn id="28" idx="4"/>
            <a:endCxn id="32" idx="0"/>
          </p:cNvCxnSpPr>
          <p:nvPr/>
        </p:nvCxnSpPr>
        <p:spPr>
          <a:xfrm>
            <a:off x="11607697" y="12797236"/>
            <a:ext cx="0" cy="635726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C4123AE6-8C0F-FAE3-0C0B-943141BDA6B4}"/>
              </a:ext>
            </a:extLst>
          </p:cNvPr>
          <p:cNvSpPr txBox="1"/>
          <p:nvPr/>
        </p:nvSpPr>
        <p:spPr>
          <a:xfrm>
            <a:off x="810018" y="0"/>
            <a:ext cx="414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Fig 1.</a:t>
            </a:r>
            <a:r>
              <a:rPr kumimoji="1" lang="ko-KR" altLang="en-US" dirty="0"/>
              <a:t> </a:t>
            </a:r>
            <a:r>
              <a:rPr kumimoji="1" lang="en-US" altLang="ko-KR" dirty="0"/>
              <a:t>Hematopoiesis</a:t>
            </a:r>
            <a:r>
              <a:rPr kumimoji="1" lang="ko-KR" altLang="en-US" dirty="0"/>
              <a:t> </a:t>
            </a:r>
            <a:r>
              <a:rPr kumimoji="1" lang="en-US" altLang="ko-KR" dirty="0"/>
              <a:t>map in bone marrow</a:t>
            </a:r>
            <a:endParaRPr kumimoji="1" lang="ko-KR" altLang="en-US" dirty="0"/>
          </a:p>
        </p:txBody>
      </p:sp>
      <p:graphicFrame>
        <p:nvGraphicFramePr>
          <p:cNvPr id="254" name="표 253">
            <a:extLst>
              <a:ext uri="{FF2B5EF4-FFF2-40B4-BE49-F238E27FC236}">
                <a16:creationId xmlns:a16="http://schemas.microsoft.com/office/drawing/2014/main" id="{54E47AA0-76E6-E432-2B67-1B9BF2B31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644342"/>
              </p:ext>
            </p:extLst>
          </p:nvPr>
        </p:nvGraphicFramePr>
        <p:xfrm>
          <a:off x="7006803" y="523984"/>
          <a:ext cx="1222790" cy="1102333"/>
        </p:xfrm>
        <a:graphic>
          <a:graphicData uri="http://schemas.openxmlformats.org/drawingml/2006/table">
            <a:tbl>
              <a:tblPr/>
              <a:tblGrid>
                <a:gridCol w="611395">
                  <a:extLst>
                    <a:ext uri="{9D8B030D-6E8A-4147-A177-3AD203B41FA5}">
                      <a16:colId xmlns:a16="http://schemas.microsoft.com/office/drawing/2014/main" val="1401074031"/>
                    </a:ext>
                  </a:extLst>
                </a:gridCol>
                <a:gridCol w="611395">
                  <a:extLst>
                    <a:ext uri="{9D8B030D-6E8A-4147-A177-3AD203B41FA5}">
                      <a16:colId xmlns:a16="http://schemas.microsoft.com/office/drawing/2014/main" val="3910419314"/>
                    </a:ext>
                  </a:extLst>
                </a:gridCol>
              </a:tblGrid>
              <a:tr h="1716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HLF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CD33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989613"/>
                  </a:ext>
                </a:extLst>
              </a:tr>
              <a:tr h="1716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GATA3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CD44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666708"/>
                  </a:ext>
                </a:extLst>
              </a:tr>
              <a:tr h="1716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NOTCH1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PTPRS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74600"/>
                  </a:ext>
                </a:extLst>
              </a:tr>
              <a:tr h="1716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NOTCH2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CD34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324585"/>
                  </a:ext>
                </a:extLst>
              </a:tr>
              <a:tr h="1680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MEIS1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07774"/>
                  </a:ext>
                </a:extLst>
              </a:tr>
              <a:tr h="2475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MLLT3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98052"/>
                  </a:ext>
                </a:extLst>
              </a:tr>
            </a:tbl>
          </a:graphicData>
        </a:graphic>
      </p:graphicFrame>
      <p:cxnSp>
        <p:nvCxnSpPr>
          <p:cNvPr id="255" name="Connector 49">
            <a:extLst>
              <a:ext uri="{FF2B5EF4-FFF2-40B4-BE49-F238E27FC236}">
                <a16:creationId xmlns:a16="http://schemas.microsoft.com/office/drawing/2014/main" id="{AA20D87A-CD48-7ACE-DE4D-189D89E7EFBE}"/>
              </a:ext>
            </a:extLst>
          </p:cNvPr>
          <p:cNvCxnSpPr>
            <a:cxnSpLocks/>
            <a:stCxn id="6" idx="4"/>
            <a:endCxn id="27" idx="0"/>
          </p:cNvCxnSpPr>
          <p:nvPr/>
        </p:nvCxnSpPr>
        <p:spPr>
          <a:xfrm flipH="1">
            <a:off x="6818072" y="5111924"/>
            <a:ext cx="3491975" cy="6879783"/>
          </a:xfrm>
          <a:prstGeom prst="line">
            <a:avLst/>
          </a:prstGeom>
          <a:ln w="12700">
            <a:solidFill>
              <a:srgbClr val="2C3E50"/>
            </a:solidFill>
            <a:prstDash val="dash"/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1" name="표 260">
            <a:extLst>
              <a:ext uri="{FF2B5EF4-FFF2-40B4-BE49-F238E27FC236}">
                <a16:creationId xmlns:a16="http://schemas.microsoft.com/office/drawing/2014/main" id="{E2AFF47C-8586-6494-E5B7-96B10FF54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046307"/>
              </p:ext>
            </p:extLst>
          </p:nvPr>
        </p:nvGraphicFramePr>
        <p:xfrm>
          <a:off x="1162183" y="12127608"/>
          <a:ext cx="660954" cy="669628"/>
        </p:xfrm>
        <a:graphic>
          <a:graphicData uri="http://schemas.openxmlformats.org/drawingml/2006/table">
            <a:tbl>
              <a:tblPr/>
              <a:tblGrid>
                <a:gridCol w="660954">
                  <a:extLst>
                    <a:ext uri="{9D8B030D-6E8A-4147-A177-3AD203B41FA5}">
                      <a16:colId xmlns:a16="http://schemas.microsoft.com/office/drawing/2014/main" val="1620930830"/>
                    </a:ext>
                  </a:extLst>
                </a:gridCol>
              </a:tblGrid>
              <a:tr h="1674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CD46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172906"/>
                  </a:ext>
                </a:extLst>
              </a:tr>
              <a:tr h="1674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CD109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582559"/>
                  </a:ext>
                </a:extLst>
              </a:tr>
              <a:tr h="1674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PPBP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757726"/>
                  </a:ext>
                </a:extLst>
              </a:tr>
              <a:tr h="1674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GP1BB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69380"/>
                  </a:ext>
                </a:extLst>
              </a:tr>
            </a:tbl>
          </a:graphicData>
        </a:graphic>
      </p:graphicFrame>
      <p:sp>
        <p:nvSpPr>
          <p:cNvPr id="265" name="Oval 24">
            <a:extLst>
              <a:ext uri="{FF2B5EF4-FFF2-40B4-BE49-F238E27FC236}">
                <a16:creationId xmlns:a16="http://schemas.microsoft.com/office/drawing/2014/main" id="{5AE51B2C-588A-5F82-4AA7-021A5331AF7E}"/>
              </a:ext>
            </a:extLst>
          </p:cNvPr>
          <p:cNvSpPr/>
          <p:nvPr/>
        </p:nvSpPr>
        <p:spPr>
          <a:xfrm>
            <a:off x="1571882" y="12457611"/>
            <a:ext cx="914400" cy="91440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CFU</a:t>
            </a:r>
            <a:endParaRPr sz="1600" b="1" dirty="0">
              <a:solidFill>
                <a:srgbClr val="FFFFFF"/>
              </a:solidFill>
            </a:endParaRPr>
          </a:p>
        </p:txBody>
      </p:sp>
      <p:cxnSp>
        <p:nvCxnSpPr>
          <p:cNvPr id="267" name="Connector 59">
            <a:extLst>
              <a:ext uri="{FF2B5EF4-FFF2-40B4-BE49-F238E27FC236}">
                <a16:creationId xmlns:a16="http://schemas.microsoft.com/office/drawing/2014/main" id="{B43613FD-3181-1AE8-A031-D4D865A2DA07}"/>
              </a:ext>
            </a:extLst>
          </p:cNvPr>
          <p:cNvCxnSpPr>
            <a:cxnSpLocks/>
            <a:endCxn id="265" idx="0"/>
          </p:cNvCxnSpPr>
          <p:nvPr/>
        </p:nvCxnSpPr>
        <p:spPr>
          <a:xfrm>
            <a:off x="2029082" y="12252970"/>
            <a:ext cx="0" cy="204641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Oval 16">
            <a:extLst>
              <a:ext uri="{FF2B5EF4-FFF2-40B4-BE49-F238E27FC236}">
                <a16:creationId xmlns:a16="http://schemas.microsoft.com/office/drawing/2014/main" id="{30E4F92D-1B8B-7FAE-BBD3-E656D1D51B6A}"/>
              </a:ext>
            </a:extLst>
          </p:cNvPr>
          <p:cNvSpPr/>
          <p:nvPr/>
        </p:nvSpPr>
        <p:spPr>
          <a:xfrm>
            <a:off x="3252451" y="9388622"/>
            <a:ext cx="914400" cy="914400"/>
          </a:xfrm>
          <a:prstGeom prst="ellipse">
            <a:avLst/>
          </a:prstGeom>
          <a:solidFill>
            <a:srgbClr val="E3920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CD14</a:t>
            </a:r>
            <a:br>
              <a:rPr lang="en-US" sz="1100" b="1" dirty="0">
                <a:solidFill>
                  <a:srgbClr val="FFFFFF"/>
                </a:solidFill>
              </a:rPr>
            </a:br>
            <a:r>
              <a:rPr lang="en-US" sz="1100" b="1" dirty="0">
                <a:solidFill>
                  <a:srgbClr val="FFFFFF"/>
                </a:solidFill>
              </a:rPr>
              <a:t>Monocyte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70" name="Oval 16">
            <a:extLst>
              <a:ext uri="{FF2B5EF4-FFF2-40B4-BE49-F238E27FC236}">
                <a16:creationId xmlns:a16="http://schemas.microsoft.com/office/drawing/2014/main" id="{0B113E7E-7A3B-8819-D8CB-E54FB861F823}"/>
              </a:ext>
            </a:extLst>
          </p:cNvPr>
          <p:cNvSpPr/>
          <p:nvPr/>
        </p:nvSpPr>
        <p:spPr>
          <a:xfrm>
            <a:off x="4635213" y="9388622"/>
            <a:ext cx="914400" cy="914400"/>
          </a:xfrm>
          <a:prstGeom prst="ellipse">
            <a:avLst/>
          </a:prstGeom>
          <a:solidFill>
            <a:srgbClr val="C7800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CD16</a:t>
            </a:r>
            <a:br>
              <a:rPr lang="en-US" sz="1100" b="1" dirty="0">
                <a:solidFill>
                  <a:srgbClr val="FFFFFF"/>
                </a:solidFill>
              </a:rPr>
            </a:br>
            <a:r>
              <a:rPr lang="en-US" sz="1100" b="1" dirty="0">
                <a:solidFill>
                  <a:srgbClr val="FFFFFF"/>
                </a:solidFill>
              </a:rPr>
              <a:t>Monocyte</a:t>
            </a:r>
            <a:endParaRPr sz="1100" b="1" dirty="0">
              <a:solidFill>
                <a:srgbClr val="FFFFFF"/>
              </a:solidFill>
            </a:endParaRPr>
          </a:p>
        </p:txBody>
      </p:sp>
      <p:cxnSp>
        <p:nvCxnSpPr>
          <p:cNvPr id="271" name="Connector 56">
            <a:extLst>
              <a:ext uri="{FF2B5EF4-FFF2-40B4-BE49-F238E27FC236}">
                <a16:creationId xmlns:a16="http://schemas.microsoft.com/office/drawing/2014/main" id="{FAE736E1-AE7C-7BC3-79B9-24FDC8F75FE5}"/>
              </a:ext>
            </a:extLst>
          </p:cNvPr>
          <p:cNvCxnSpPr>
            <a:cxnSpLocks/>
            <a:stCxn id="17" idx="4"/>
            <a:endCxn id="269" idx="0"/>
          </p:cNvCxnSpPr>
          <p:nvPr/>
        </p:nvCxnSpPr>
        <p:spPr>
          <a:xfrm flipH="1">
            <a:off x="3709651" y="8987251"/>
            <a:ext cx="845825" cy="401371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56">
            <a:extLst>
              <a:ext uri="{FF2B5EF4-FFF2-40B4-BE49-F238E27FC236}">
                <a16:creationId xmlns:a16="http://schemas.microsoft.com/office/drawing/2014/main" id="{A26F720B-BFAB-67BD-0E34-49EBE6FA1C35}"/>
              </a:ext>
            </a:extLst>
          </p:cNvPr>
          <p:cNvCxnSpPr>
            <a:cxnSpLocks/>
            <a:stCxn id="17" idx="4"/>
            <a:endCxn id="270" idx="0"/>
          </p:cNvCxnSpPr>
          <p:nvPr/>
        </p:nvCxnSpPr>
        <p:spPr>
          <a:xfrm>
            <a:off x="4555476" y="8987251"/>
            <a:ext cx="536937" cy="401371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3641" y="89654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3E50"/>
                </a:solidFill>
              </a:rPr>
              <a:t>T cell maturation</a:t>
            </a:r>
          </a:p>
        </p:txBody>
      </p:sp>
      <p:sp>
        <p:nvSpPr>
          <p:cNvPr id="3" name="Oval 2"/>
          <p:cNvSpPr/>
          <p:nvPr/>
        </p:nvSpPr>
        <p:spPr>
          <a:xfrm>
            <a:off x="5857081" y="274320"/>
            <a:ext cx="914400" cy="91440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DN (Double Negative)</a:t>
            </a:r>
          </a:p>
        </p:txBody>
      </p:sp>
      <p:sp>
        <p:nvSpPr>
          <p:cNvPr id="4" name="Oval 3"/>
          <p:cNvSpPr/>
          <p:nvPr/>
        </p:nvSpPr>
        <p:spPr>
          <a:xfrm>
            <a:off x="5857081" y="2529840"/>
            <a:ext cx="914400" cy="91440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DP (Double Positive)</a:t>
            </a:r>
          </a:p>
        </p:txBody>
      </p:sp>
      <p:sp>
        <p:nvSpPr>
          <p:cNvPr id="5" name="Oval 4"/>
          <p:cNvSpPr/>
          <p:nvPr/>
        </p:nvSpPr>
        <p:spPr>
          <a:xfrm>
            <a:off x="2839561" y="4785360"/>
            <a:ext cx="914400" cy="91440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T_gd</a:t>
            </a:r>
          </a:p>
        </p:txBody>
      </p:sp>
      <p:sp>
        <p:nvSpPr>
          <p:cNvPr id="6" name="Oval 5"/>
          <p:cNvSpPr/>
          <p:nvPr/>
        </p:nvSpPr>
        <p:spPr>
          <a:xfrm>
            <a:off x="4851241" y="4785360"/>
            <a:ext cx="914400" cy="914400"/>
          </a:xfrm>
          <a:prstGeom prst="ellipse">
            <a:avLst/>
          </a:prstGeom>
          <a:solidFill>
            <a:srgbClr val="F48FB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Naive_CD4_T_cell</a:t>
            </a:r>
          </a:p>
        </p:txBody>
      </p:sp>
      <p:sp>
        <p:nvSpPr>
          <p:cNvPr id="7" name="Oval 6"/>
          <p:cNvSpPr/>
          <p:nvPr/>
        </p:nvSpPr>
        <p:spPr>
          <a:xfrm>
            <a:off x="6862921" y="4785360"/>
            <a:ext cx="914400" cy="914400"/>
          </a:xfrm>
          <a:prstGeom prst="ellipse">
            <a:avLst/>
          </a:prstGeom>
          <a:solidFill>
            <a:srgbClr val="B0BEC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Naive_T_cell</a:t>
            </a:r>
          </a:p>
        </p:txBody>
      </p:sp>
      <p:sp>
        <p:nvSpPr>
          <p:cNvPr id="8" name="Oval 7"/>
          <p:cNvSpPr/>
          <p:nvPr/>
        </p:nvSpPr>
        <p:spPr>
          <a:xfrm>
            <a:off x="8874601" y="4785360"/>
            <a:ext cx="914400" cy="914400"/>
          </a:xfrm>
          <a:prstGeom prst="ellipse">
            <a:avLst/>
          </a:prstGeom>
          <a:solidFill>
            <a:srgbClr val="F8BBD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Naive_CD8_T_cell</a:t>
            </a:r>
          </a:p>
        </p:txBody>
      </p:sp>
      <p:sp>
        <p:nvSpPr>
          <p:cNvPr id="9" name="Oval 8"/>
          <p:cNvSpPr/>
          <p:nvPr/>
        </p:nvSpPr>
        <p:spPr>
          <a:xfrm>
            <a:off x="1833721" y="7040880"/>
            <a:ext cx="914400" cy="914400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NKT_cell</a:t>
            </a:r>
          </a:p>
        </p:txBody>
      </p:sp>
      <p:sp>
        <p:nvSpPr>
          <p:cNvPr id="10" name="Oval 9"/>
          <p:cNvSpPr/>
          <p:nvPr/>
        </p:nvSpPr>
        <p:spPr>
          <a:xfrm>
            <a:off x="2839561" y="7040880"/>
            <a:ext cx="914400" cy="9144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Treg</a:t>
            </a:r>
          </a:p>
        </p:txBody>
      </p:sp>
      <p:sp>
        <p:nvSpPr>
          <p:cNvPr id="11" name="Oval 10"/>
          <p:cNvSpPr/>
          <p:nvPr/>
        </p:nvSpPr>
        <p:spPr>
          <a:xfrm>
            <a:off x="3845401" y="7040880"/>
            <a:ext cx="914400" cy="9144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CD4_naive</a:t>
            </a:r>
          </a:p>
        </p:txBody>
      </p:sp>
      <p:sp>
        <p:nvSpPr>
          <p:cNvPr id="12" name="Oval 11"/>
          <p:cNvSpPr/>
          <p:nvPr/>
        </p:nvSpPr>
        <p:spPr>
          <a:xfrm>
            <a:off x="4851241" y="7040880"/>
            <a:ext cx="914400" cy="9144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Th1</a:t>
            </a:r>
          </a:p>
        </p:txBody>
      </p:sp>
      <p:sp>
        <p:nvSpPr>
          <p:cNvPr id="13" name="Oval 12"/>
          <p:cNvSpPr/>
          <p:nvPr/>
        </p:nvSpPr>
        <p:spPr>
          <a:xfrm>
            <a:off x="5857081" y="7040880"/>
            <a:ext cx="914400" cy="9144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Th2</a:t>
            </a:r>
          </a:p>
        </p:txBody>
      </p:sp>
      <p:sp>
        <p:nvSpPr>
          <p:cNvPr id="14" name="Oval 13"/>
          <p:cNvSpPr/>
          <p:nvPr/>
        </p:nvSpPr>
        <p:spPr>
          <a:xfrm>
            <a:off x="6862921" y="7040880"/>
            <a:ext cx="914400" cy="9144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Th17</a:t>
            </a:r>
          </a:p>
        </p:txBody>
      </p:sp>
      <p:sp>
        <p:nvSpPr>
          <p:cNvPr id="15" name="Oval 14"/>
          <p:cNvSpPr/>
          <p:nvPr/>
        </p:nvSpPr>
        <p:spPr>
          <a:xfrm>
            <a:off x="7868761" y="7040880"/>
            <a:ext cx="914400" cy="9144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Tfh</a:t>
            </a:r>
          </a:p>
        </p:txBody>
      </p:sp>
      <p:sp>
        <p:nvSpPr>
          <p:cNvPr id="16" name="Oval 15"/>
          <p:cNvSpPr/>
          <p:nvPr/>
        </p:nvSpPr>
        <p:spPr>
          <a:xfrm>
            <a:off x="8874601" y="7040880"/>
            <a:ext cx="914400" cy="914400"/>
          </a:xfrm>
          <a:prstGeom prst="ellipse">
            <a:avLst/>
          </a:prstGeom>
          <a:solidFill>
            <a:srgbClr val="880E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CD8_naive</a:t>
            </a:r>
          </a:p>
        </p:txBody>
      </p:sp>
      <p:sp>
        <p:nvSpPr>
          <p:cNvPr id="17" name="Oval 16"/>
          <p:cNvSpPr/>
          <p:nvPr/>
        </p:nvSpPr>
        <p:spPr>
          <a:xfrm>
            <a:off x="9880441" y="7040880"/>
            <a:ext cx="914400" cy="91440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CD8_Treg</a:t>
            </a:r>
          </a:p>
        </p:txBody>
      </p:sp>
      <p:sp>
        <p:nvSpPr>
          <p:cNvPr id="18" name="Oval 17"/>
          <p:cNvSpPr/>
          <p:nvPr/>
        </p:nvSpPr>
        <p:spPr>
          <a:xfrm>
            <a:off x="4180681" y="9296400"/>
            <a:ext cx="914400" cy="9144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CD4_central_memory</a:t>
            </a:r>
          </a:p>
        </p:txBody>
      </p:sp>
      <p:sp>
        <p:nvSpPr>
          <p:cNvPr id="19" name="Oval 18"/>
          <p:cNvSpPr/>
          <p:nvPr/>
        </p:nvSpPr>
        <p:spPr>
          <a:xfrm>
            <a:off x="7533481" y="9296400"/>
            <a:ext cx="914400" cy="914400"/>
          </a:xfrm>
          <a:prstGeom prst="ellipse">
            <a:avLst/>
          </a:prstGeom>
          <a:solidFill>
            <a:srgbClr val="880E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CD8_central_memory</a:t>
            </a:r>
          </a:p>
        </p:txBody>
      </p:sp>
      <p:sp>
        <p:nvSpPr>
          <p:cNvPr id="20" name="Oval 19"/>
          <p:cNvSpPr/>
          <p:nvPr/>
        </p:nvSpPr>
        <p:spPr>
          <a:xfrm>
            <a:off x="4180681" y="11551920"/>
            <a:ext cx="914400" cy="9144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CD4_effector_memory</a:t>
            </a:r>
          </a:p>
        </p:txBody>
      </p:sp>
      <p:sp>
        <p:nvSpPr>
          <p:cNvPr id="21" name="Oval 20"/>
          <p:cNvSpPr/>
          <p:nvPr/>
        </p:nvSpPr>
        <p:spPr>
          <a:xfrm>
            <a:off x="7533481" y="11551920"/>
            <a:ext cx="914400" cy="914400"/>
          </a:xfrm>
          <a:prstGeom prst="ellipse">
            <a:avLst/>
          </a:prstGeom>
          <a:solidFill>
            <a:srgbClr val="880E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CD8_effector_memory</a:t>
            </a:r>
          </a:p>
        </p:txBody>
      </p:sp>
      <p:sp>
        <p:nvSpPr>
          <p:cNvPr id="22" name="Oval 21"/>
          <p:cNvSpPr/>
          <p:nvPr/>
        </p:nvSpPr>
        <p:spPr>
          <a:xfrm>
            <a:off x="5857081" y="13807440"/>
            <a:ext cx="914400" cy="914400"/>
          </a:xfrm>
          <a:prstGeom prst="ellipse">
            <a:avLst/>
          </a:prstGeom>
          <a:solidFill>
            <a:srgbClr val="880E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9000" rIns="18000" bIns="90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CD8_effector</a:t>
            </a:r>
          </a:p>
        </p:txBody>
      </p:sp>
      <p:cxnSp>
        <p:nvCxnSpPr>
          <p:cNvPr id="23" name="Connector 22"/>
          <p:cNvCxnSpPr>
            <a:stCxn id="6" idx="2"/>
            <a:endCxn id="11" idx="0"/>
          </p:cNvCxnSpPr>
          <p:nvPr/>
        </p:nvCxnSpPr>
        <p:spPr>
          <a:xfrm flipH="1">
            <a:off x="4302601" y="5699760"/>
            <a:ext cx="100584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1" idx="2"/>
            <a:endCxn id="18" idx="0"/>
          </p:cNvCxnSpPr>
          <p:nvPr/>
        </p:nvCxnSpPr>
        <p:spPr>
          <a:xfrm>
            <a:off x="4302601" y="7955280"/>
            <a:ext cx="33528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8" idx="2"/>
            <a:endCxn id="20" idx="0"/>
          </p:cNvCxnSpPr>
          <p:nvPr/>
        </p:nvCxnSpPr>
        <p:spPr>
          <a:xfrm>
            <a:off x="4637881" y="10210800"/>
            <a:ext cx="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6" idx="2"/>
            <a:endCxn id="12" idx="0"/>
          </p:cNvCxnSpPr>
          <p:nvPr/>
        </p:nvCxnSpPr>
        <p:spPr>
          <a:xfrm>
            <a:off x="5308441" y="5699760"/>
            <a:ext cx="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6" idx="2"/>
            <a:endCxn id="13" idx="0"/>
          </p:cNvCxnSpPr>
          <p:nvPr/>
        </p:nvCxnSpPr>
        <p:spPr>
          <a:xfrm>
            <a:off x="5308441" y="5699760"/>
            <a:ext cx="100584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6" idx="2"/>
            <a:endCxn id="14" idx="0"/>
          </p:cNvCxnSpPr>
          <p:nvPr/>
        </p:nvCxnSpPr>
        <p:spPr>
          <a:xfrm>
            <a:off x="5308441" y="5699760"/>
            <a:ext cx="201168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6" idx="2"/>
            <a:endCxn id="15" idx="0"/>
          </p:cNvCxnSpPr>
          <p:nvPr/>
        </p:nvCxnSpPr>
        <p:spPr>
          <a:xfrm>
            <a:off x="5308441" y="5699760"/>
            <a:ext cx="301752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6" idx="2"/>
            <a:endCxn id="10" idx="0"/>
          </p:cNvCxnSpPr>
          <p:nvPr/>
        </p:nvCxnSpPr>
        <p:spPr>
          <a:xfrm flipH="1">
            <a:off x="3296761" y="5699760"/>
            <a:ext cx="201168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6" idx="2"/>
            <a:endCxn id="9" idx="0"/>
          </p:cNvCxnSpPr>
          <p:nvPr/>
        </p:nvCxnSpPr>
        <p:spPr>
          <a:xfrm flipH="1">
            <a:off x="2290921" y="5699760"/>
            <a:ext cx="301752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8" idx="2"/>
            <a:endCxn id="16" idx="0"/>
          </p:cNvCxnSpPr>
          <p:nvPr/>
        </p:nvCxnSpPr>
        <p:spPr>
          <a:xfrm>
            <a:off x="9331801" y="5699760"/>
            <a:ext cx="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6" idx="2"/>
            <a:endCxn id="19" idx="0"/>
          </p:cNvCxnSpPr>
          <p:nvPr/>
        </p:nvCxnSpPr>
        <p:spPr>
          <a:xfrm flipH="1">
            <a:off x="7990681" y="7955280"/>
            <a:ext cx="134112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9" idx="2"/>
            <a:endCxn id="21" idx="0"/>
          </p:cNvCxnSpPr>
          <p:nvPr/>
        </p:nvCxnSpPr>
        <p:spPr>
          <a:xfrm>
            <a:off x="7990681" y="10210800"/>
            <a:ext cx="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21" idx="2"/>
            <a:endCxn id="22" idx="0"/>
          </p:cNvCxnSpPr>
          <p:nvPr/>
        </p:nvCxnSpPr>
        <p:spPr>
          <a:xfrm flipH="1">
            <a:off x="6314281" y="12466320"/>
            <a:ext cx="1676400" cy="1341120"/>
          </a:xfrm>
          <a:prstGeom prst="line">
            <a:avLst/>
          </a:prstGeom>
          <a:ln w="12700">
            <a:solidFill>
              <a:srgbClr val="2C3E50"/>
            </a:solidFill>
            <a:tailEnd type="triangle" w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AEA77DC-2ACC-A530-5C7C-35863E85BE9C}"/>
              </a:ext>
            </a:extLst>
          </p:cNvPr>
          <p:cNvSpPr txBox="1"/>
          <p:nvPr/>
        </p:nvSpPr>
        <p:spPr>
          <a:xfrm>
            <a:off x="904445" y="522514"/>
            <a:ext cx="1138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Modifying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493664-7924-12B7-C581-881AA32651CC}"/>
              </a:ext>
            </a:extLst>
          </p:cNvPr>
          <p:cNvSpPr txBox="1"/>
          <p:nvPr/>
        </p:nvSpPr>
        <p:spPr>
          <a:xfrm>
            <a:off x="904446" y="153182"/>
            <a:ext cx="3294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Fig 2.</a:t>
            </a:r>
            <a:r>
              <a:rPr kumimoji="1" lang="ko-KR" altLang="en-US" dirty="0"/>
              <a:t> </a:t>
            </a:r>
            <a:r>
              <a:rPr kumimoji="1" lang="en-US" altLang="ko-KR" dirty="0"/>
              <a:t>T cell maturation in thymus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744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2650</TotalTime>
  <Words>196</Words>
  <Application>Microsoft Macintosh PowerPoint</Application>
  <PresentationFormat>사용자 지정</PresentationFormat>
  <Paragraphs>76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 성수</cp:lastModifiedBy>
  <cp:revision>6</cp:revision>
  <dcterms:created xsi:type="dcterms:W3CDTF">2013-01-27T09:14:16Z</dcterms:created>
  <dcterms:modified xsi:type="dcterms:W3CDTF">2026-05-22T02:29:21Z</dcterms:modified>
  <cp:category/>
</cp:coreProperties>
</file>